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48"/>
  </p:normalViewPr>
  <p:slideViewPr>
    <p:cSldViewPr snapToGrid="0" snapToObjects="1">
      <p:cViewPr varScale="1">
        <p:scale>
          <a:sx n="121" d="100"/>
          <a:sy n="121" d="100"/>
        </p:scale>
        <p:origin x="20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5/28/26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6766560"/>
            <a:ext cx="12188952" cy="9144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109728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FFFFFF"/>
                </a:solidFill>
              </a:rPr>
              <a:t>ShopStream E-Commerce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11680"/>
            <a:ext cx="100584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6600"/>
                </a:solidFill>
              </a:rPr>
              <a:t>Delta Lake Workshop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2926080"/>
            <a:ext cx="5760720" cy="4572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31089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CCCCCC"/>
                </a:solidFill>
              </a:rPr>
              <a:t>Building a Production-Grade Medallion Architecture on Databricks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53035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 i="1">
                <a:solidFill>
                  <a:srgbClr val="CCCCCC"/>
                </a:solidFill>
              </a:rPr>
              <a:t>Workshop 1  |  Delta Lake Fundamentals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600"/>
                </a:solidFill>
              </a:rPr>
              <a:t>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058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Part 1  →  Delta Internals &amp; Transaction Log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Part 2  →  Building the E-Commerce Data Model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95681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Part 3  →  ACID Transactions &amp; DML Operations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3230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Part 4  →  Schema Evolution &amp; Time Travel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9077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Part 5  →  Performance Optimization (OPTIMIZE, ZORDER, VACUUM)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3832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Part 6  →  Streaming &amp; Real-Time Analytics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600"/>
                </a:solidFill>
              </a:rPr>
              <a:t>What is Delta Lake?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B4D8"/>
                </a:solidFill>
              </a:rPr>
              <a:t>Delta Lake = Parquet files  +  Transaction Log (_delta_log/)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600200"/>
            <a:ext cx="3200400" cy="411480"/>
          </a:xfrm>
          <a:prstGeom prst="rect">
            <a:avLst/>
          </a:prstGeom>
          <a:solidFill>
            <a:srgbClr val="2A2A3E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48640" y="1645920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600"/>
                </a:solidFill>
              </a:rPr>
              <a:t>ACID Transactions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673352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All-or-nothing writes — no partial or corrupt data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21408"/>
            <a:ext cx="3200400" cy="411480"/>
          </a:xfrm>
          <a:prstGeom prst="rect">
            <a:avLst/>
          </a:prstGeom>
          <a:solidFill>
            <a:srgbClr val="2A2A3E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548640" y="2167127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600"/>
                </a:solidFill>
              </a:rPr>
              <a:t>Time Travel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840480" y="2194560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Query any historical version of your data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642615"/>
            <a:ext cx="3200400" cy="411480"/>
          </a:xfrm>
          <a:prstGeom prst="rect">
            <a:avLst/>
          </a:prstGeom>
          <a:solidFill>
            <a:srgbClr val="2A2A3E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548640" y="2688335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600"/>
                </a:solidFill>
              </a:rPr>
              <a:t>Schema Enforcement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2715768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Bad data blocked at write time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163823"/>
            <a:ext cx="3200400" cy="411480"/>
          </a:xfrm>
          <a:prstGeom prst="rect">
            <a:avLst/>
          </a:prstGeom>
          <a:solidFill>
            <a:srgbClr val="2A2A3E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548640" y="3209543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600"/>
                </a:solidFill>
              </a:rPr>
              <a:t>Scalable Metadata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3236975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Handles millions of files efficiently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685031"/>
            <a:ext cx="3200400" cy="411480"/>
          </a:xfrm>
          <a:prstGeom prst="rect">
            <a:avLst/>
          </a:prstGeom>
          <a:solidFill>
            <a:srgbClr val="2A2A3E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548640" y="3730751"/>
            <a:ext cx="30175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6600"/>
                </a:solidFill>
              </a:rPr>
              <a:t>Streaming + Batch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840480" y="3758183"/>
            <a:ext cx="80467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CCCCCC"/>
                </a:solidFill>
              </a:rPr>
              <a:t>Same table used for both real-time and batch pipelines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600"/>
                </a:solidFill>
              </a:rPr>
              <a:t>Medallion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A layered approach to organising data quality in a Lakehouse</a:t>
            </a:r>
          </a:p>
        </p:txBody>
      </p:sp>
      <p:sp>
        <p:nvSpPr>
          <p:cNvPr id="5" name="Rectangle 4"/>
          <p:cNvSpPr/>
          <p:nvPr/>
        </p:nvSpPr>
        <p:spPr>
          <a:xfrm>
            <a:off x="731520" y="1371600"/>
            <a:ext cx="3200400" cy="4114800"/>
          </a:xfrm>
          <a:prstGeom prst="rect">
            <a:avLst/>
          </a:prstGeom>
          <a:solidFill>
            <a:srgbClr val="2A2A3E"/>
          </a:solidFill>
          <a:ln>
            <a:solidFill>
              <a:srgbClr val="CD7F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31520" y="1371600"/>
            <a:ext cx="3200400" cy="502920"/>
          </a:xfrm>
          <a:prstGeom prst="rect">
            <a:avLst/>
          </a:prstGeom>
          <a:solidFill>
            <a:srgbClr val="CD7F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1389888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1E2E"/>
                </a:solidFill>
              </a:rPr>
              <a:t>BRONZE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D7F32"/>
                </a:solidFill>
              </a:rPr>
              <a:t>Raw / As-Is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2316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bronze_clickstream
5,000,000 events
Unvalidated raw data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77639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600"/>
                </a:solidFill>
              </a:rPr>
              <a:t>→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80559" y="1371600"/>
            <a:ext cx="3200400" cy="4114800"/>
          </a:xfrm>
          <a:prstGeom prst="rect">
            <a:avLst/>
          </a:prstGeom>
          <a:solidFill>
            <a:srgbClr val="2A2A3E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480559" y="1371600"/>
            <a:ext cx="3200400" cy="50292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59" y="1389888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1E2E"/>
                </a:solidFill>
              </a:rPr>
              <a:t>SILVER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59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C0C0C0"/>
                </a:solidFill>
              </a:rPr>
              <a:t>Cleaned &amp; Enriched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1999" y="242316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customers  50k rows
products   5k rows
orders     500k rows
order_items 1.5M rows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26679" y="310896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6600"/>
                </a:solidFill>
              </a:rPr>
              <a:t>→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0" y="1371600"/>
            <a:ext cx="3200400" cy="4114800"/>
          </a:xfrm>
          <a:prstGeom prst="rect">
            <a:avLst/>
          </a:prstGeom>
          <a:solidFill>
            <a:srgbClr val="2A2A3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229600" y="1371600"/>
            <a:ext cx="3200400" cy="50292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600" y="1389888"/>
            <a:ext cx="32004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1E2E"/>
                </a:solidFill>
              </a:rPr>
              <a:t>GOLD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1920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D700"/>
                </a:solidFill>
              </a:rPr>
              <a:t>Analytics-Ready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21040" y="2423160"/>
            <a:ext cx="3017520" cy="2834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CCCCCC"/>
                </a:solidFill>
              </a:rPr>
              <a:t>gold_customer_360
gold_daily_revenue
gold_funnel_realtime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600"/>
                </a:solidFill>
              </a:rPr>
              <a:t>Part 1 — Delta Internals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Understanding how Delta Lake tracks every change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Every write creates a new VERSION (like a Git commit)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099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_delta_log/ stores JSON files recording every change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8541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DESCRIBE HISTORY  →  shows all versions &amp; operations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6090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DESCRIBE DETAIL   →  shows current metadata, file count, size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363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Time Travel: SELECT * FROM table VERSION AS OF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Unity Catalog hides physical paths — use SQL commands instead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600"/>
                </a:solidFill>
              </a:rPr>
              <a:t>Part 2 — Building the Data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Creating Silver &amp; Bronze Delta tables with schema enforcement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280160"/>
            <a:ext cx="11612880" cy="4114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365760" y="13258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Table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13258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Layer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0" y="13258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Rows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13258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1E1E2E"/>
                </a:solidFill>
              </a:rPr>
              <a:t>Key Feature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" y="1737360"/>
            <a:ext cx="11612880" cy="4114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65760" y="1783080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customers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74720" y="178308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0" y="1783080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50,000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783080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CDF, autoOptimize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" y="2167128"/>
            <a:ext cx="11612880" cy="411480"/>
          </a:xfrm>
          <a:prstGeom prst="rect">
            <a:avLst/>
          </a:prstGeom>
          <a:solidFill>
            <a:srgbClr val="2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5760" y="2212848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products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2128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0" y="2212848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5,000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0" y="2212848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Schema evolution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596896"/>
            <a:ext cx="11612880" cy="4114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5760" y="2642615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orders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74720" y="2642615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2642615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500,000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58000" y="2642615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Partitioned by order_year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74320" y="3026663"/>
            <a:ext cx="11612880" cy="411480"/>
          </a:xfrm>
          <a:prstGeom prst="rect">
            <a:avLst/>
          </a:prstGeom>
          <a:solidFill>
            <a:srgbClr val="222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365760" y="3072383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order_items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474720" y="3072383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Silver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0" y="3072383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1,500,000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0" y="3072383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ZORDER by order_id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4320" y="3456431"/>
            <a:ext cx="11612880" cy="411480"/>
          </a:xfrm>
          <a:prstGeom prst="rect">
            <a:avLst/>
          </a:prstGeom>
          <a:solidFill>
            <a:srgbClr val="2A2A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365760" y="3502151"/>
            <a:ext cx="292608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bronze_clickstream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474720" y="3502151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Bronze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0" y="3502151"/>
            <a:ext cx="16459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5,000,000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3502151"/>
            <a:ext cx="4572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Partitioned by event_date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600"/>
                </a:solidFill>
              </a:rPr>
              <a:t>Part 3 — ACID Transactions &amp; DML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B4D8"/>
                </a:solidFill>
              </a:rPr>
              <a:t>INSERT · UPDATE · DELETE · MERGE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1828800" cy="59436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1E2E"/>
                </a:solidFill>
              </a:rPr>
              <a:t>INSERT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560320" y="1481328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Add new customer records from a marketing campaign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21408"/>
            <a:ext cx="1828800" cy="59436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212848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1E2E"/>
                </a:solidFill>
              </a:rPr>
              <a:t>UPDATE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2231136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Promote Silver customers with 5+ orders to Gold tier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2871215"/>
            <a:ext cx="1828800" cy="59436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57200" y="2962656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1E2E"/>
                </a:solidFill>
              </a:rPr>
              <a:t>DELETE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60320" y="2980944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Remove cancelled orders older than 90 days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3621023"/>
            <a:ext cx="1828800" cy="59436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3712463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1E1E2E"/>
                </a:solidFill>
              </a:rPr>
              <a:t>MERGE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560320" y="3730751"/>
            <a:ext cx="9144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Sync warehouse inventory — upsert + delete in one atomic step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11247120" cy="502920"/>
          </a:xfrm>
          <a:prstGeom prst="rect">
            <a:avLst/>
          </a:prstGeom>
          <a:solidFill>
            <a:srgbClr val="2A2A3E"/>
          </a:solidFill>
          <a:ln>
            <a:solidFill>
              <a:srgbClr val="FF66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00B4D8"/>
                </a:solidFill>
              </a:rPr>
              <a:t>MERGE is the cornerstone of CDC pipelines — atomically handles INSERT + UPDATE + DELETE in one statement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600"/>
                </a:solidFill>
              </a:rPr>
              <a:t>Part 4 — Schema Evolution &amp; Time Travel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Evolve your schema safely &amp; recover from mistakes instantly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Schema Enforcement  →  Delta BLOCKS writes with wrong/extra columns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099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Schema Evolution    →  ALTER TABLE ADD COLUMNS — zero downtime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8541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mergeSchema=True    →  allow evolved schema in streaming writes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6090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Time Travel by version: VERSION AS OF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363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Time Travel by date:    TIMESTAMP AS OF '2024-01-01'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RESTORE TABLE → instantly roll back a table to any past version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600"/>
                </a:solidFill>
              </a:rPr>
              <a:t>Part 5 — Performance Optimization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2286000" cy="91440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57200" y="132588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1E2E"/>
                </a:solidFill>
              </a:rPr>
              <a:t>OPTIMIZE</a:t>
            </a:r>
          </a:p>
        </p:txBody>
      </p:sp>
      <p:sp>
        <p:nvSpPr>
          <p:cNvPr id="6" name="Rectangle 5"/>
          <p:cNvSpPr/>
          <p:nvPr/>
        </p:nvSpPr>
        <p:spPr>
          <a:xfrm>
            <a:off x="2926080" y="1097280"/>
            <a:ext cx="8961120" cy="914400"/>
          </a:xfrm>
          <a:prstGeom prst="rect">
            <a:avLst/>
          </a:prstGeom>
          <a:solidFill>
            <a:srgbClr val="2A2A3E"/>
          </a:solidFill>
          <a:ln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3108960" y="1207007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Compacts thousands of small Parquet files into larger ones (~1GB each)
Solves the 'small file problem' caused by incremental writes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2194560"/>
            <a:ext cx="2286000" cy="91440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242316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1E2E"/>
                </a:solidFill>
              </a:rPr>
              <a:t>ZORDER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926080" y="2194560"/>
            <a:ext cx="8961120" cy="914400"/>
          </a:xfrm>
          <a:prstGeom prst="rect">
            <a:avLst/>
          </a:prstGeom>
          <a:solidFill>
            <a:srgbClr val="2A2A3E"/>
          </a:solidFill>
          <a:ln>
            <a:solidFill>
              <a:srgbClr val="4CAF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108960" y="2304288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Physically co-locates related rows within files
Queries filtering on ZORDER columns skip entire files (data skipping)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291839"/>
            <a:ext cx="2286000" cy="91440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200" y="3520439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1E1E2E"/>
                </a:solidFill>
              </a:rPr>
              <a:t>VACUUM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926080" y="3291839"/>
            <a:ext cx="8961120" cy="914400"/>
          </a:xfrm>
          <a:prstGeom prst="rect">
            <a:avLst/>
          </a:prstGeom>
          <a:solidFill>
            <a:srgbClr val="2A2A3E"/>
          </a:solidFill>
          <a:ln>
            <a:solidFill>
              <a:srgbClr val="FFD7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108960" y="3401568"/>
            <a:ext cx="8686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Deletes old unreferenced files to reclaim cloud storage costs
Default 7-day retention protects time travel window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6217920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 i="1">
                <a:solidFill>
                  <a:srgbClr val="CCCCCC"/>
                </a:solidFill>
              </a:rPr>
              <a:t>Gold Layer: gold_customer_360  ·  gold_daily_revenue  ·  gold_funnel_realtime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600"/>
                </a:solidFill>
              </a:rPr>
              <a:t>Part 6 — Streaming &amp; Real-Time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CCCCCC"/>
                </a:solidFill>
              </a:rPr>
              <a:t>Process clickstream events with exactly-once guarantees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Delta Lake supports BOTH batch and streaming from the same table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09928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spark.readStream.format('delta') — read a Delta table as a live stream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185416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Watermarking — handle late-arriving events (10 min tolerance)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660904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Windowed aggregations — real-time 5-min funnel metrics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36392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Exactly-once guarantees via checkpointing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611880"/>
            <a:ext cx="107899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FFFFFF"/>
                </a:solidFill>
              </a:rPr>
              <a:t>  Change Data Feed (CDF) — stream INSERT/UPDATE/DELETE changes for audit logs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88952" cy="73152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6600"/>
                </a:solidFill>
              </a:rPr>
              <a:t>Key Takeaways</a:t>
            </a:r>
          </a:p>
        </p:txBody>
      </p:sp>
      <p:sp>
        <p:nvSpPr>
          <p:cNvPr id="4" name="Rectangle 3"/>
          <p:cNvSpPr/>
          <p:nvPr/>
        </p:nvSpPr>
        <p:spPr>
          <a:xfrm>
            <a:off x="365760" y="1188720"/>
            <a:ext cx="109728" cy="411480"/>
          </a:xfrm>
          <a:prstGeom prst="rect">
            <a:avLst/>
          </a:prstGeom>
          <a:solidFill>
            <a:srgbClr val="00B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40080" y="120700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Delta Lake = Parquet + Transaction Log. All features come from the _delta_log/.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783080"/>
            <a:ext cx="109728" cy="411480"/>
          </a:xfrm>
          <a:prstGeom prst="rect">
            <a:avLst/>
          </a:prstGeom>
          <a:solidFill>
            <a:srgbClr val="4CAF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40080" y="180136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Medallion Architecture (Bronze → Silver → Gold) separates raw, clean, and aggregated data.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2377440"/>
            <a:ext cx="109728" cy="411480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239572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MERGE is the most powerful DML — it's the foundation of all CDC pipelines.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2971800"/>
            <a:ext cx="109728" cy="411480"/>
          </a:xfrm>
          <a:prstGeom prst="rect">
            <a:avLst/>
          </a:prstGeom>
          <a:solidFill>
            <a:srgbClr val="FF66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299008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Time Travel &amp; RESTORE make data mistakes recoverable in seconds — no backup restore needed.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3566160"/>
            <a:ext cx="109728" cy="411480"/>
          </a:xfrm>
          <a:prstGeom prst="rect">
            <a:avLst/>
          </a:prstGeom>
          <a:solidFill>
            <a:srgbClr val="C0C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" y="3584448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OPTIMIZE + ZORDER dramatically improve query performance on large tables.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160520"/>
            <a:ext cx="109728" cy="411480"/>
          </a:xfrm>
          <a:prstGeom prst="rect">
            <a:avLst/>
          </a:prstGeom>
          <a:solidFill>
            <a:srgbClr val="F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0080" y="4178807"/>
            <a:ext cx="112471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</a:rPr>
              <a:t>Delta handles Streaming + Batch on the same table with exactly-once guarantees.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</TotalTime>
  <Words>772</Words>
  <Application>Microsoft Macintosh PowerPoint</Application>
  <PresentationFormat>Custom</PresentationFormat>
  <Paragraphs>112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Microsoft Office User</cp:lastModifiedBy>
  <cp:revision>1</cp:revision>
  <dcterms:created xsi:type="dcterms:W3CDTF">2013-01-27T09:14:16Z</dcterms:created>
  <dcterms:modified xsi:type="dcterms:W3CDTF">2026-05-28T05:33:21Z</dcterms:modified>
  <cp:category/>
</cp:coreProperties>
</file>